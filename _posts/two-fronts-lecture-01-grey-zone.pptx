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FRONTS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01  //  2026-05-25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877824"/>
            <a:ext cx="6675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Grey Zone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Not a Metaphor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20040" y="320040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Security, Military Doctrine,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Threat Landscape We Share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4773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threatvector762.dev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86600" y="347472"/>
            <a:ext cx="1874520" cy="4434840"/>
          </a:xfrm>
          <a:prstGeom prst="rect">
            <a:avLst/>
          </a:prstGeom>
          <a:solidFill>
            <a:srgbClr val="C9A84C">
              <a:alpha val="9000"/>
            </a:srgbClr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594360"/>
            <a:ext cx="17830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HYBRID WARFARE 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CYBER THREATS 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FORCE PROTECTION 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CRITICAL INFRA 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NATO DOCTRINE 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CCCS / CSE 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NIST CSF 2.0 ]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FIVE EYES 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OPSEC 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APT28 / VOLT TYPHOON ]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640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FRONTS  |  LECTURE 01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46888" y="265176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2194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 the Presenter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768096"/>
            <a:ext cx="8650224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" y="960120"/>
            <a:ext cx="4069080" cy="3566160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6888" y="960120"/>
            <a:ext cx="406908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96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CORPORATE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371600"/>
            <a:ext cx="38404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Analyst / Sysadmin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yrs IT: Service Desk (2022-24), Infrastructure (2024-present)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ISC2 Certified in Cybersecurity (CC)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AZ-900 Azure Fundamentals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Fortinet FCA | Zero Trust Practitioner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&amp; Malware Analysis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TAISE (Cloud Security Alliance)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MSCS candidate -- Univ. of Colorado Boulder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4325112" cy="3566160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960120"/>
            <a:ext cx="4325112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9966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MILITARY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1371600"/>
            <a:ext cx="41148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Armed Forces Military Police (Army Reserve)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years of service -- currently serving (part-time)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Aircraft Security Officer (TASO)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Information Systems Security Officer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Security Supervisor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WithYouWithMe: Cyber, OSINT, Linux, Networking certs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" y="4645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worlds. One threat landscape. Same adversaries.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640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FRONTS  |  LECTURE 01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46888" y="265176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2194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We're Covering Today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768096"/>
            <a:ext cx="8650224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" y="960120"/>
            <a:ext cx="50292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9601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99669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grey zone and why it matters now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46888" y="1618488"/>
            <a:ext cx="50292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" y="161848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16550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actors: Russia and China in the current conflict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46888" y="2276856"/>
            <a:ext cx="50292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" y="227685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" y="231343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 corporations and military members are targets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46888" y="2935224"/>
            <a:ext cx="50292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293522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" y="297180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warfare: all domains, all the time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46888" y="3593592"/>
            <a:ext cx="50292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359359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9536" y="363016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that bridge the military-corporate divide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46888" y="4251960"/>
            <a:ext cx="50292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" y="42519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" y="428853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takeaways and what comes next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778240" y="914400"/>
            <a:ext cx="118872" cy="4005072"/>
          </a:xfrm>
          <a:prstGeom prst="rect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9A8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DISCUSSION PAUSE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does conflict between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major powers look like in 2026?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97280" y="28346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it from three angles: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soldier's answer. A sysadmin's answer. A CEO's answer.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01168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42832" y="0"/>
            <a:ext cx="201168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37760"/>
            <a:ext cx="201168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42832" y="4937760"/>
            <a:ext cx="201168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~7 minutes 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640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FRONTS  |  LECTURE 01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46888" y="265176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2194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Defining the Grey Zone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768096"/>
            <a:ext cx="8650224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" y="914400"/>
            <a:ext cx="5074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deliberately designed to: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 below the threshold of conventional armed conflict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clear attribution to the sponsoring state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Coerce and destabilize without triggering a formal response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" y="2651760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ambiguity is not a bug. It is the feature.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Deniability gives adversaries room to maneuver. The target state cannot respond to what it cannot formally attribute.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40680" y="914400"/>
            <a:ext cx="3456432" cy="3520440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40680" y="914400"/>
            <a:ext cx="82296" cy="3520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822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5577840" y="146304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 deliberately designed to avoid attribution and to remain below the threshold of formally declared warfare.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77840" y="324612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Strategic Communications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of Excellence, 2017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640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FRONTS  |  LECTURE 01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46888" y="265176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2194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Not New -- But the Tools Are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768096"/>
            <a:ext cx="8650224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" y="960120"/>
            <a:ext cx="8650224" cy="1133856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6888" y="960120"/>
            <a:ext cx="1691640" cy="1133856"/>
          </a:xfrm>
          <a:prstGeom prst="rect">
            <a:avLst/>
          </a:prstGeom>
          <a:solidFill>
            <a:srgbClr val="C9A84C">
              <a:alpha val="9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3327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Cold War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45389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1950s-1991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11887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KGB active measures, dezinformatsiya, supply chain sabotage, agent networks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6888" y="2258568"/>
            <a:ext cx="8650224" cy="1133856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" y="2258568"/>
            <a:ext cx="1691640" cy="1133856"/>
          </a:xfrm>
          <a:prstGeom prst="rect">
            <a:avLst/>
          </a:prstGeom>
          <a:solidFill>
            <a:srgbClr val="C9A84C">
              <a:alpha val="9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3172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 Shift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275234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1990s-2010s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248716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State-sponsored hacking, DDoS as coercion, early infrastructure probing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46888" y="3557016"/>
            <a:ext cx="8650224" cy="1133856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" y="3557016"/>
            <a:ext cx="1691640" cy="1133856"/>
          </a:xfrm>
          <a:prstGeom prst="rect">
            <a:avLst/>
          </a:prstGeom>
          <a:solidFill>
            <a:srgbClr val="C9A84C">
              <a:alpha val="90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630168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Grey Zone Maturity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05079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2010s-present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03120" y="378561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Sandworm, Fancy Bear, APT41, Volt Typhoon -- persistent, multi-domain, global reach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6888" y="4754880"/>
            <a:ext cx="8650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changed: speed, scale, and the inability to attribute in real time.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640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FRONTS  |  LECTURE 01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46888" y="265176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2194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Canada's Threat Picture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768096"/>
            <a:ext cx="8650224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" y="960120"/>
            <a:ext cx="2743200" cy="2286000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" y="1051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38328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Strategic Threat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23317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State-sponsored actors are the top cyber threat to Canada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CCCS NCTA 2023-2024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960120"/>
            <a:ext cx="2743200" cy="2286000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64408" y="1051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264408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Infra Sectors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64408" y="23317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are privately owned and operated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Safety Canada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99048" y="960120"/>
            <a:ext cx="2743200" cy="2286000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90488" y="1051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190488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Eyes on Canada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90488" y="23317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Eyes intelligence sharing: CA, US, UK, AU, NZ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intel via CSE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6888" y="3429000"/>
            <a:ext cx="8650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and CCCS are Canada's operational cyber arms -- separate from DND and the RCMP.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CCCS publishes the National Cyber Threat Assessment (NCTA) biannually. It is open source. Read it.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46888" y="4160520"/>
            <a:ext cx="8650224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" y="42519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document: cyber.gc.ca -- National Cyber Threat Assessment 2023-2024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640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FRONTS  |  LECTURE 01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46888" y="265176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2194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Russia: Operations in the Grey Zone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768096"/>
            <a:ext cx="8650224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" y="960120"/>
            <a:ext cx="8650224" cy="1170432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6888" y="960120"/>
            <a:ext cx="82296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515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APT28 / Fancy Bear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1051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3716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NATO members, political parties, defence contractors. Credential theft, spear-phishing, data exfiltration. Active against Canada.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88" y="2286000"/>
            <a:ext cx="8650224" cy="1170432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" y="2286000"/>
            <a:ext cx="82296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3774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Sandworm / GRU Unit 74455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2377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6974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NotPetya (2017): $10B+ global damage. Started in Ukraine, spread globally. UK NCSC and CSE formally attributed to Russian military intelligence.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6888" y="3611880"/>
            <a:ext cx="8650224" cy="1170432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" y="3611880"/>
            <a:ext cx="82296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703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 Operations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0" y="3703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 / FSB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" y="402336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interference, disinformation campaigns, social media manipulation. Targeting domestic cohesion in NATO member states.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6888" y="4800600"/>
            <a:ext cx="8650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Pattern: deny, disrupt, demoralize. The goal is not to win a battle -- it is to exhaust political will.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640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FRONTS  |  LECTURE 01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46888" y="265176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2194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China: Operations in the Grey Zone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768096"/>
            <a:ext cx="8650224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" y="960120"/>
            <a:ext cx="8650224" cy="1170432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6888" y="960120"/>
            <a:ext cx="82296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515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 Typhoon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10515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CISA / CSE / NSA joint advisory AA24-038A, Feb 2024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13716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Pre-positioning inside Western critical infrastructure. Living off the land. Not stealing data -- installing presence for future use. Water, power, comms.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88" y="2286000"/>
            <a:ext cx="8650224" cy="1170432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" y="2286000"/>
            <a:ext cx="82296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3774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APT41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23774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 espionage and criminal operations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" y="26974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 conducting state-directed espionage and financially motivated cybercrime. Aerospace, defence, biotech, AI, telecom.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6888" y="3611880"/>
            <a:ext cx="8650224" cy="1170432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" y="3611880"/>
            <a:ext cx="82296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703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 Interference (Canada)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37033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CSIS Annual Report 2023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" y="402336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interference in Canadian federal elections. Targeting CAF members, political figures, researchers, and diaspora communities.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6888" y="4800600"/>
            <a:ext cx="8650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Pattern: patient, quiet, persistent. The long game. Position first, act when it is strategically optimal.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640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FRONTS  |  LECTURE 01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46888" y="265176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2194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 Warfare: All Domains, All the Time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768096"/>
            <a:ext cx="8650224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" y="914400"/>
            <a:ext cx="2788920" cy="1719072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6888" y="914400"/>
            <a:ext cx="278892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95097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" y="1325880"/>
            <a:ext cx="257860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attacks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intrusion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exfiltration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82112" y="914400"/>
            <a:ext cx="2788920" cy="1719072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914400"/>
            <a:ext cx="2788920" cy="320040"/>
          </a:xfrm>
          <a:prstGeom prst="rect">
            <a:avLst/>
          </a:prstGeom>
          <a:solidFill>
            <a:srgbClr val="C9A84C">
              <a:alpha val="7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95097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325880"/>
            <a:ext cx="257860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Disinformation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ops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manipulation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17336" y="914400"/>
            <a:ext cx="2788920" cy="1719072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914400"/>
            <a:ext cx="2788920" cy="320040"/>
          </a:xfrm>
          <a:prstGeom prst="rect">
            <a:avLst/>
          </a:prstGeom>
          <a:solidFill>
            <a:srgbClr val="C9A84C">
              <a:alpha val="7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95097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KINETIC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27064" y="1325880"/>
            <a:ext cx="257860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Sabotage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forces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Grey-zone military activity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6888" y="2834640"/>
            <a:ext cx="2788920" cy="1719072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6888" y="2834640"/>
            <a:ext cx="2788920" cy="320040"/>
          </a:xfrm>
          <a:prstGeom prst="rect">
            <a:avLst/>
          </a:prstGeom>
          <a:solidFill>
            <a:srgbClr val="C9A84C">
              <a:alpha val="7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287121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ECONOMIC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" y="3246120"/>
            <a:ext cx="257860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evasion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coercion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interference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82112" y="2834640"/>
            <a:ext cx="2788920" cy="1719072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82112" y="2834640"/>
            <a:ext cx="2788920" cy="320040"/>
          </a:xfrm>
          <a:prstGeom prst="rect">
            <a:avLst/>
          </a:prstGeom>
          <a:solidFill>
            <a:srgbClr val="C9A84C">
              <a:alpha val="7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287121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DIPLOMATIC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246120"/>
            <a:ext cx="257860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ambiguity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fracturing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attribution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17336" y="2834640"/>
            <a:ext cx="2788920" cy="1719072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17336" y="2834640"/>
            <a:ext cx="2788920" cy="320040"/>
          </a:xfrm>
          <a:prstGeom prst="rect">
            <a:avLst/>
          </a:prstGeom>
          <a:solidFill>
            <a:srgbClr val="C9A84C">
              <a:alpha val="7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287121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 / ELEC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27064" y="3246120"/>
            <a:ext cx="257860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spoofing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denial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warfare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46888" y="4800600"/>
            <a:ext cx="8650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There is no peacetime anymore. Ukraine is the real-world laboratory -- all six domains, simultaneously, right now.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640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FRONTS  |  LECTURE 01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46888" y="265176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2194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Corporate Target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768096"/>
            <a:ext cx="8650224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" y="841248"/>
            <a:ext cx="8650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businesses are in this fight whether they want to be or not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" y="1188720"/>
            <a:ext cx="8650224" cy="1051560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46888" y="1188720"/>
            <a:ext cx="502920" cy="1051560"/>
          </a:xfrm>
          <a:prstGeom prst="rect">
            <a:avLst/>
          </a:prstGeom>
          <a:solidFill>
            <a:srgbClr val="C9A84C">
              <a:alpha val="8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" y="14813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280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Infrastructure is Privately Owned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5727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telecom, financial systems, transportation. Public Safety Canada identifies 10 sectors. Most are run by private companies. They are also the target.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46888" y="2395728"/>
            <a:ext cx="8650224" cy="1051560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" y="2395728"/>
            <a:ext cx="502920" cy="1051560"/>
          </a:xfrm>
          <a:prstGeom prst="rect">
            <a:avLst/>
          </a:prstGeom>
          <a:solidFill>
            <a:srgbClr val="C9A84C">
              <a:alpha val="8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" y="26883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487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Supply Chain as Entry Vector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77977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 (2020) and 3CX (2023) were not attacks on governments -- they were attacks through trusted vendors to reach both government and corporate networks simultaneously.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46888" y="3602736"/>
            <a:ext cx="8650224" cy="1051560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" y="3602736"/>
            <a:ext cx="502920" cy="1051560"/>
          </a:xfrm>
          <a:prstGeom prst="rect">
            <a:avLst/>
          </a:prstGeom>
          <a:solidFill>
            <a:srgbClr val="C9A84C">
              <a:alpha val="8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389534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6941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Intellectual Property and Economic Espionage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986784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Aerospace, defence contractors, AI research, biotech. APT41 and others are specifically tasked with IP theft. Your R&amp;D pipeline is a national security asset.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640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FRONTS  |  LECTURE 01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46888" y="265176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2194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Military Target: Off Duty Does Not Exist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768096"/>
            <a:ext cx="8650224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" y="868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Reservists are a unique intelligence opportunity.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" y="123444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clearances with access to restricted areas and information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civilian life outside the security envelope of your unit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devices, home networks, social media accounts -- all unmanaged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members as secondary targets for social engineering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CSIS 2023: foreign actors specifically targeting CAF members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46888" y="3520440"/>
            <a:ext cx="4937760" cy="1371600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" y="3520440"/>
            <a:ext cx="493776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54787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TASO DIMENSION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3840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Aircraft, restricted areas, access routines, shift patterns. Information about what you do, where you do it, and when -- is intelligence. OPSEC is not a policy. It is survival.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49240" y="868680"/>
            <a:ext cx="3547872" cy="4023360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49240" y="868680"/>
            <a:ext cx="3547872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2392" y="89611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YOUR PROFILE SAYS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40680" y="1207008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your unit, your role, your certifications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check-in at the armoury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photo near the flight line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date mentioned in a public post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 posting deployment news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email on your personal accounts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22392" y="3840480"/>
            <a:ext cx="3401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Aggregated, this is an intelligence file.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9A8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DISCUSSION PAUSE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does this hit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world?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2606040"/>
            <a:ext cx="4023360" cy="2240280"/>
          </a:xfrm>
          <a:prstGeom prst="rect">
            <a:avLst/>
          </a:prstGeom>
          <a:solidFill>
            <a:srgbClr val="111111">
              <a:alpha val="85000"/>
            </a:srgbClr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697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299923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about your unit could be collected from your personal social media right now?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76732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ever been approached by someone who seemed unusually interested in your work?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2606040"/>
            <a:ext cx="4023360" cy="2240280"/>
          </a:xfrm>
          <a:prstGeom prst="rect">
            <a:avLst/>
          </a:prstGeom>
          <a:solidFill>
            <a:srgbClr val="111111">
              <a:alpha val="85000"/>
            </a:srgbClr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2697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CORPORATE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92040" y="299923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your third-party vendors would be the easiest entry point into your network?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376732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organization have a documented process for nation-state threat response?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~7 minutes ]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640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FRONTS  |  LECTURE 01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46888" y="265176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2194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Frameworks: Organizing the Response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768096"/>
            <a:ext cx="8650224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" y="822960"/>
            <a:ext cx="8650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frameworks describe the same problem in different languages. None is complete on its own.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46888" y="1170432"/>
            <a:ext cx="2788920" cy="3639312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46888" y="1170432"/>
            <a:ext cx="278892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2070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NATO DOCTRINE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6276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/ Alliance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965960"/>
            <a:ext cx="254203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Concept 2022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AJP-01(E) Joint Operations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Hybrid Support Teams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STANAG standards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182112" y="1170432"/>
            <a:ext cx="2788920" cy="3639312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170432"/>
            <a:ext cx="278892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2070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CCCS / CSE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73552" y="16276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National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9272" y="1965960"/>
            <a:ext cx="254203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 Threat Assessment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Bulletins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ITSG-33 (GoC IT Security)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5G / supply chain guidance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17336" y="1170432"/>
            <a:ext cx="2788920" cy="3639312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17336" y="1170432"/>
            <a:ext cx="278892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2070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CSF 2.0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08776" y="16276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/ Global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54496" y="1965960"/>
            <a:ext cx="254203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/ Identify / Protect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/ Respond / Recover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800-53 security controls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ISO 27001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46888" y="4828032"/>
            <a:ext cx="8650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insight: Identify / Protect / Detect / Respond is NIST. Threat Assess / Layer Defence / CCIR / PACE is NATO. Same logic.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640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FRONTS  |  LECTURE 01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46888" y="265176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2194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NATO: The Alliance Framework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768096"/>
            <a:ext cx="8650224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" y="91440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Concept 2022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names cyber as a domain of warfare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threats listed as a core security challenge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defence extends to cyber attacks (Article 5 threshold debate ongoing)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46888" y="25146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and Operational Tools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Allied Command Transformation: doctrine and adaptation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Hybrid Support Teams (CHSTs): deployed on request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AJP-01(E): joint operations doctrine -- the foundation for multi-domain thinking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6888" y="40690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Canada's Role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CJOC commands CAF contributions to NATO operations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Eyes intelligence sharing integrates with NATO INTSUM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349240" y="914400"/>
            <a:ext cx="3547872" cy="4041648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49240" y="914400"/>
            <a:ext cx="3547872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2392" y="95097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ARTICLE 5 QUESTION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22392" y="1280160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cyber attack trigger collective defence? NATO says it can. The threshold is deliberately undefined. Ambiguity in the alliance's response mirrors the adversary's own strategy of deliberate ambiguity in attack.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22392" y="26974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grey zone works both ways.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22392" y="425196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Reference: nato.int/cps/en/natohq/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topics_210907.htm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640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FRONTS  |  LECTURE 01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46888" y="265176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2194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CCCS and CSE: Canada's Cyber Framework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768096"/>
            <a:ext cx="8650224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" y="914400"/>
            <a:ext cx="8650224" cy="1810512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6888" y="914400"/>
            <a:ext cx="82296" cy="18105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05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Communications Security Establishment (CSE)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2984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Canada's national cryptologic agency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554480"/>
            <a:ext cx="8321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intelligence (SIGINT) -- foreign intelligence mandate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and defensive cyber operations authority (since 2019)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Cyber Threat Bulletins with actor-specific attribution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Canada's primary interface with Five Eyes cyber intelligence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46888" y="2926080"/>
            <a:ext cx="8650224" cy="1810512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" y="2926080"/>
            <a:ext cx="82296" cy="18105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017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Canadian Centre for Cyber Security (CCCS)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3310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cyber defence arm -- part of CSE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3566160"/>
            <a:ext cx="8321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Published: National Cyber Threat Assessment (biannual, open source)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Advises critical infrastructure operators and federal departments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ITSG-33: IT Security Risk Management -- the GoC security baseline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and advisory system for active threats (cyber.gc.ca)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6888" y="4828032"/>
            <a:ext cx="8650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URLs: cyber.gc.ca (CCCS)   |   cse-cst.gc.ca (CSE)   |   Both are free and publicly available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640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FRONTS  |  LECTURE 01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46888" y="265176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2194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CSF 2.0: The Corporate Bridge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768096"/>
            <a:ext cx="8650224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" y="822960"/>
            <a:ext cx="8650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February 2024. Adds GOVERN as a new core function, reflecting executive accountability for cybersecurity.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" y="1170432"/>
            <a:ext cx="2788920" cy="1572768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46888" y="1170432"/>
            <a:ext cx="278892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2161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58191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context, risk strategy, oversight. Who owns cyber risk at the executive level?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82112" y="1170432"/>
            <a:ext cx="2788920" cy="1572768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170432"/>
            <a:ext cx="2788920" cy="347472"/>
          </a:xfrm>
          <a:prstGeom prst="rect">
            <a:avLst/>
          </a:prstGeom>
          <a:solidFill>
            <a:srgbClr val="8A6E2F"/>
          </a:solidFill>
          <a:ln w="12700">
            <a:solidFill>
              <a:srgbClr val="8A6E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12161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73552" y="158191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management, risk assessment, supply chain risk. What do you have and what threatens it?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17336" y="1170432"/>
            <a:ext cx="2788920" cy="1572768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17336" y="1170432"/>
            <a:ext cx="2788920" cy="347472"/>
          </a:xfrm>
          <a:prstGeom prst="rect">
            <a:avLst/>
          </a:prstGeom>
          <a:solidFill>
            <a:srgbClr val="5C4A1E"/>
          </a:solidFill>
          <a:ln w="12700">
            <a:solidFill>
              <a:srgbClr val="5C4A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2161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08776" y="158191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control, awareness, data security, platform security. How do you limit impact?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46888" y="2907792"/>
            <a:ext cx="2788920" cy="1572768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6888" y="2907792"/>
            <a:ext cx="2788920" cy="347472"/>
          </a:xfrm>
          <a:prstGeom prst="rect">
            <a:avLst/>
          </a:prstGeom>
          <a:solidFill>
            <a:srgbClr val="3D3115"/>
          </a:solidFill>
          <a:ln w="12700">
            <a:solidFill>
              <a:srgbClr val="3D311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29535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" y="331927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monitoring, anomaly and event detection. How do you know when something has happened?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182112" y="2907792"/>
            <a:ext cx="2788920" cy="1572768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82112" y="2907792"/>
            <a:ext cx="2788920" cy="347472"/>
          </a:xfrm>
          <a:prstGeom prst="rect">
            <a:avLst/>
          </a:prstGeom>
          <a:solidFill>
            <a:srgbClr val="5C4A1E"/>
          </a:solidFill>
          <a:ln w="12700">
            <a:solidFill>
              <a:srgbClr val="5C4A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27832" y="29535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73552" y="331927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management, analysis, mitigation, communications. What do you do when it does?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17336" y="2907792"/>
            <a:ext cx="2788920" cy="1572768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17336" y="2907792"/>
            <a:ext cx="2788920" cy="347472"/>
          </a:xfrm>
          <a:prstGeom prst="rect">
            <a:avLst/>
          </a:prstGeom>
          <a:solidFill>
            <a:srgbClr val="8A6E2F"/>
          </a:solidFill>
          <a:ln w="12700">
            <a:solidFill>
              <a:srgbClr val="8A6E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29535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08776" y="331927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recovery, communication, improvements. How do you restore and learn?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640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FRONTS  |  LECTURE 01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46888" y="265176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2194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 Crosswalk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768096"/>
            <a:ext cx="8650224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6888" y="914400"/>
          <a:ext cx="8650224" cy="3977640"/>
        </p:xfrm>
        <a:graphic>
          <a:graphicData uri="http://schemas.openxmlformats.org/drawingml/2006/table">
            <a:tbl>
              <a:tblPr/>
              <a:tblGrid>
                <a:gridCol w="1645920"/>
                <a:gridCol w="2240280"/>
                <a:gridCol w="2468880"/>
                <a:gridCol w="2295144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NATO / MILITARY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CCCS / GoC (Canada)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CSF 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Intelligence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INTSUM / J2 Intelligence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NCTA + Threat Bulletins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Authority / DAOD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ITSG-33 / GoC 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Layered Defence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Defence in Depth / STANAG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/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CCIR / All Source Intel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 Threat 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CJIIM / Op 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CCCS IR Guidance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/ Continuity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PACE Plan / Reconstitution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Continuity Mgmt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640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FRONTS  |  LECTURE 01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46888" y="265176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2194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Practical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768096"/>
            <a:ext cx="8650224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" y="960120"/>
            <a:ext cx="548640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106984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05156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grey zone is active right now. This is not theoretical and it is not a future concern.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" y="1783080"/>
            <a:ext cx="548640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" y="18928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military and corporate organizations are targets simultaneously. Your sector matters.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" y="2606040"/>
            <a:ext cx="548640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" y="27157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69748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OPSEC is organizational OPSEC. Social media, home networks, personal devices -- all attack surface.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6888" y="3429000"/>
            <a:ext cx="548640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35387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520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are not bureaucracy. They are how you organize a response before you need one.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6888" y="4251960"/>
            <a:ext cx="548640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43616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3434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both languages -- military doctrine and corporate security frameworks -- is a strategic advantage. Almost nobody does it.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640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FRONTS  |  LECTURE 01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46888" y="265176"/>
            <a:ext cx="64008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2194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 and Further Reading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768096"/>
            <a:ext cx="8650224" cy="0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" y="8778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CANADIAN / DOMESTIC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" y="1188720"/>
            <a:ext cx="42062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125272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CCCS -- National Cyber Threat Assessment 2023-2024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6459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cyber.gc.ca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" y="2084832"/>
            <a:ext cx="42062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" y="21488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-- Cyber Threat Bulletins and Advisories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254203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cse-cst.gc.ca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" y="2980944"/>
            <a:ext cx="42062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" y="30449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CSIS -- Annual Public Report 2023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" y="343814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canada.ca/csis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6888" y="3877056"/>
            <a:ext cx="42062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3941064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Safety Canada -- Critical Infrastructure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" y="433425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publicsafety.gc.ca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90872" y="8778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NATO / INTERNATIONAL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90872" y="1188720"/>
            <a:ext cx="42062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91456" y="125272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-- Strategic Concept 2022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91456" y="16459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nato.int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90872" y="2084832"/>
            <a:ext cx="42062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91456" y="21488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-- Cybersecurity Framework 2.0 (Feb 2024)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91456" y="254203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nist.gov/cyberframework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90872" y="2980944"/>
            <a:ext cx="42062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91456" y="30449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-- Volt Typhoon Advisory AA24-038A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91456" y="343814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cisa.gov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90872" y="3877056"/>
            <a:ext cx="4206240" cy="749808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91456" y="3941064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NCSC -- NotPetya Attribution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91456" y="433425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ncsc.gov.uk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6888" y="4828032"/>
            <a:ext cx="8650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session: Threat Actors Are Not Hackers in Hoodies -- Russian and Chinese TTPs in depth, mapped to MITRE ATT&amp;CK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FRONTS  |  LECTURE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Discussion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20040" y="27889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grey zone is already open for business.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awareness is the first defensive layer.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threatvector762.dev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4206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Next: Lecture 02 -- Threat Actors Are Not Hackers in Hoodies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0" y="365760"/>
            <a:ext cx="2011680" cy="4434840"/>
          </a:xfrm>
          <a:prstGeom prst="rect">
            <a:avLst/>
          </a:prstGeom>
          <a:solidFill>
            <a:srgbClr val="C9A84C">
              <a:alpha val="9000"/>
            </a:srgbClr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5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ThreatVector762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Grey Zone Is Not a Metaphor</dc:title>
  <dc:creator>threatvector762</dc:creator>
  <dc:description>Authored by Ryan Jorgensen, Chief Threat Officer at ThreatVector762 Labs</dc:description>
  <cp:lastModifiedBy>threatvector762</cp:lastModifiedBy>
  <cp:revision>1</cp:revision>
  <dcterms:created xsi:type="dcterms:W3CDTF">2026-05-26T01:45:59Z</dcterms:created>
  <dcterms:modified xsi:type="dcterms:W3CDTF">2026-05-26T01:45:59Z</dcterms:modified>
  <cp:version>1</cp:version>
</cp:coreProperties>
</file>